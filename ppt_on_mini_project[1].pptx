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70" r:id="rId8"/>
    <p:sldId id="259" r:id="rId9"/>
    <p:sldId id="264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01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60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97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54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42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42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81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52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2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6781AA7-B5E5-405C-958D-0262D2598BFA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772C94C-EAD5-4BA5-B3BA-F52DEF4A84C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85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2E2D809-7405-41DE-80C7-5C6164B04805}"/>
              </a:ext>
            </a:extLst>
          </p:cNvPr>
          <p:cNvSpPr txBox="1"/>
          <p:nvPr/>
        </p:nvSpPr>
        <p:spPr>
          <a:xfrm>
            <a:off x="2281084" y="206478"/>
            <a:ext cx="7207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0" i="0" u="none" strike="noStrike" dirty="0"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9A469E-E161-2811-4002-BF31204CA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236"/>
            <a:ext cx="12192000" cy="6890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E79A1B-B5CB-BAFE-95FD-61D4E29AD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236"/>
            <a:ext cx="1632155" cy="17009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6A735B-8C6A-3E55-B476-F54321CCA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845" y="-32236"/>
            <a:ext cx="1632155" cy="17009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AF9C216-5849-A697-49BB-7F2BFB5A1FDF}"/>
              </a:ext>
            </a:extLst>
          </p:cNvPr>
          <p:cNvSpPr txBox="1"/>
          <p:nvPr/>
        </p:nvSpPr>
        <p:spPr>
          <a:xfrm>
            <a:off x="2492478" y="206478"/>
            <a:ext cx="7093974" cy="803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</a:pPr>
            <a:r>
              <a:rPr lang="en-IN" sz="3200" b="0" i="0" dirty="0">
                <a:solidFill>
                  <a:schemeClr val="bg1"/>
                </a:solidFill>
                <a:effectLst/>
                <a:latin typeface="Google Sans"/>
              </a:rPr>
              <a:t>BLDEA's V P Dr PG </a:t>
            </a:r>
            <a:r>
              <a:rPr lang="en-IN" sz="3200" b="0" i="0" dirty="0" err="1">
                <a:solidFill>
                  <a:schemeClr val="bg1"/>
                </a:solidFill>
                <a:effectLst/>
                <a:latin typeface="Google Sans"/>
              </a:rPr>
              <a:t>Halakatti</a:t>
            </a:r>
            <a:r>
              <a:rPr lang="en-IN" sz="3200" b="0" i="0" dirty="0">
                <a:solidFill>
                  <a:schemeClr val="bg1"/>
                </a:solidFill>
                <a:effectLst/>
                <a:latin typeface="Google Sans"/>
              </a:rPr>
              <a:t> College of Engineering &amp;Technology </a:t>
            </a:r>
            <a:r>
              <a:rPr lang="en-IN" sz="3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College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014A5A-24A2-7B2B-F4A3-04A8ACC9A546}"/>
              </a:ext>
            </a:extLst>
          </p:cNvPr>
          <p:cNvSpPr txBox="1"/>
          <p:nvPr/>
        </p:nvSpPr>
        <p:spPr>
          <a:xfrm>
            <a:off x="2485103" y="994321"/>
            <a:ext cx="6799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                                </a:t>
            </a:r>
            <a:r>
              <a:rPr lang="en-IN" sz="2800" dirty="0">
                <a:solidFill>
                  <a:schemeClr val="bg1"/>
                </a:solidFill>
              </a:rPr>
              <a:t>Dept of CSE(AIML)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8258F6-AE1E-70B7-0B02-BB15AE4B32A5}"/>
              </a:ext>
            </a:extLst>
          </p:cNvPr>
          <p:cNvSpPr txBox="1"/>
          <p:nvPr/>
        </p:nvSpPr>
        <p:spPr>
          <a:xfrm>
            <a:off x="2639962" y="2378288"/>
            <a:ext cx="3982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MINI PROJECT (BCS586)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FE1492-4408-B5F8-CE6A-DCE87A42189D}"/>
              </a:ext>
            </a:extLst>
          </p:cNvPr>
          <p:cNvSpPr txBox="1"/>
          <p:nvPr/>
        </p:nvSpPr>
        <p:spPr>
          <a:xfrm>
            <a:off x="1632155" y="2912974"/>
            <a:ext cx="9438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Recipe Recommendation System 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E687DF-95B3-AC42-94C9-46425B74845F}"/>
              </a:ext>
            </a:extLst>
          </p:cNvPr>
          <p:cNvSpPr txBox="1"/>
          <p:nvPr/>
        </p:nvSpPr>
        <p:spPr>
          <a:xfrm>
            <a:off x="560438" y="4950207"/>
            <a:ext cx="4257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By,</a:t>
            </a:r>
          </a:p>
          <a:p>
            <a:r>
              <a:rPr lang="en-IN" sz="2400" dirty="0">
                <a:solidFill>
                  <a:schemeClr val="bg1"/>
                </a:solidFill>
              </a:rPr>
              <a:t>SAMARTH MOKASHI,</a:t>
            </a:r>
          </a:p>
          <a:p>
            <a:r>
              <a:rPr lang="en-IN" sz="2400" dirty="0">
                <a:solidFill>
                  <a:schemeClr val="bg1"/>
                </a:solidFill>
              </a:rPr>
              <a:t>SATISH SORAGANVI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95E799-66AC-5B04-92B7-38C02A12E635}"/>
              </a:ext>
            </a:extLst>
          </p:cNvPr>
          <p:cNvSpPr txBox="1"/>
          <p:nvPr/>
        </p:nvSpPr>
        <p:spPr>
          <a:xfrm>
            <a:off x="7767484" y="5221071"/>
            <a:ext cx="3864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Guided By,</a:t>
            </a:r>
          </a:p>
          <a:p>
            <a:r>
              <a:rPr lang="en-IN" sz="2800" dirty="0" err="1">
                <a:solidFill>
                  <a:schemeClr val="bg1"/>
                </a:solidFill>
              </a:rPr>
              <a:t>Proff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dirty="0" err="1">
                <a:solidFill>
                  <a:schemeClr val="bg1"/>
                </a:solidFill>
              </a:rPr>
              <a:t>Gurudevi</a:t>
            </a:r>
            <a:r>
              <a:rPr lang="en-IN" sz="2800" dirty="0">
                <a:solidFill>
                  <a:schemeClr val="bg1"/>
                </a:solidFill>
              </a:rPr>
              <a:t>. </a:t>
            </a:r>
            <a:r>
              <a:rPr lang="en-IN" sz="2800" dirty="0" err="1">
                <a:solidFill>
                  <a:schemeClr val="bg1"/>
                </a:solidFill>
              </a:rPr>
              <a:t>Koluragi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23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45860A-B1DC-0320-2BEF-4CEAE6BC04AC}"/>
              </a:ext>
            </a:extLst>
          </p:cNvPr>
          <p:cNvSpPr txBox="1"/>
          <p:nvPr/>
        </p:nvSpPr>
        <p:spPr>
          <a:xfrm>
            <a:off x="412956" y="540774"/>
            <a:ext cx="4237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775CB-07EE-DFEF-023E-8760CC463AFA}"/>
              </a:ext>
            </a:extLst>
          </p:cNvPr>
          <p:cNvSpPr txBox="1"/>
          <p:nvPr/>
        </p:nvSpPr>
        <p:spPr>
          <a:xfrm>
            <a:off x="560439" y="1696235"/>
            <a:ext cx="11071121" cy="4426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ABSTRACT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</a:t>
            </a:r>
            <a:r>
              <a:rPr lang="en-US" sz="3200" b="1" kern="10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METHODOLOGY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 WORKFLOW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5. SAMPLE OUTPUTS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6. CONCLUSION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548F3-ACDA-89A4-FCC3-89DF5DDC12A7}"/>
              </a:ext>
            </a:extLst>
          </p:cNvPr>
          <p:cNvSpPr txBox="1"/>
          <p:nvPr/>
        </p:nvSpPr>
        <p:spPr>
          <a:xfrm>
            <a:off x="3392128" y="233657"/>
            <a:ext cx="6469625" cy="645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600" b="1" u="sng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D8600-8E4A-A08B-1069-82E4B311AE71}"/>
              </a:ext>
            </a:extLst>
          </p:cNvPr>
          <p:cNvSpPr txBox="1"/>
          <p:nvPr/>
        </p:nvSpPr>
        <p:spPr>
          <a:xfrm>
            <a:off x="560439" y="1248697"/>
            <a:ext cx="10992464" cy="395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This documentation provides a comprehensive overview of a recipe recommendation system designed to suggest recipes based on nutritional values and ingredients provided by the user.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system leverages machine learning techniques and a web application framework to deliver personalized recipe recommendations.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Flask for the backend and Bootstrap for the front-end, the system generates and displays tailored recipe recommendations, enhancing meal planning and supporting diverse dietary needs.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68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24A677-DE1D-D148-0ABF-B51C7EC5AE4A}"/>
              </a:ext>
            </a:extLst>
          </p:cNvPr>
          <p:cNvSpPr txBox="1"/>
          <p:nvPr/>
        </p:nvSpPr>
        <p:spPr>
          <a:xfrm>
            <a:off x="3446205" y="294968"/>
            <a:ext cx="5919020" cy="583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b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AFC07-3F54-11FC-E2DF-2BAD436B915F}"/>
              </a:ext>
            </a:extLst>
          </p:cNvPr>
          <p:cNvSpPr txBox="1"/>
          <p:nvPr/>
        </p:nvSpPr>
        <p:spPr>
          <a:xfrm>
            <a:off x="698089" y="1071717"/>
            <a:ext cx="1078598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fast-paced world, people often struggle to find recipes that align with their specific dietary preferences, nutritional requirements, and available ingredients.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challenges include: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Dietary Preferences and Restrictions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Individuals have diverse dietary preferences and health considerations, such as low-calorie diets, low-fat meals, or specific macronutrient ratios.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Ingredient Availability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may have a limited set of ingredients available and need recipes that can be made using these.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Overload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Searching through vast databases without personalization can be time-consuming and overwhelming.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Nutritional Insights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Many recipe recommendation systems do not effectively integrate detailed nutritional data into their suggestions.</a:t>
            </a:r>
          </a:p>
          <a:p>
            <a:endParaRPr lang="en-IN" sz="2400" b="0" i="0" dirty="0">
              <a:effectLst/>
              <a:latin typeface="-apple-system"/>
            </a:endParaRPr>
          </a:p>
          <a:p>
            <a:endParaRPr lang="en-US" b="0" i="0" dirty="0">
              <a:effectLst/>
              <a:latin typeface="-apple-system"/>
            </a:endParaRP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794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D2DCA-D33A-3C73-BEF0-04870D749298}"/>
              </a:ext>
            </a:extLst>
          </p:cNvPr>
          <p:cNvSpPr txBox="1"/>
          <p:nvPr/>
        </p:nvSpPr>
        <p:spPr>
          <a:xfrm>
            <a:off x="2890683" y="186812"/>
            <a:ext cx="6410633" cy="645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6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C4845-F20E-5B0B-2686-0092798D691B}"/>
              </a:ext>
            </a:extLst>
          </p:cNvPr>
          <p:cNvSpPr txBox="1"/>
          <p:nvPr/>
        </p:nvSpPr>
        <p:spPr>
          <a:xfrm>
            <a:off x="412955" y="1191898"/>
            <a:ext cx="109924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for the Recipe Recommendation System involves a series of steps that integrate data processing, machine learning, and web application development. Below is a structured approach: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A194A1-19B5-68A2-2E0E-C02AAA28C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29" y="4014111"/>
            <a:ext cx="114161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2B225E8-5F37-C653-A3DA-093D4F0E7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29" y="2704833"/>
            <a:ext cx="1141271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Collection: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 dataset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recipe_final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(1).csv) containing recipe details, including ingredients and nutritional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Ingredient Processing: Convert ingredients into numerical vectors using TF-IDF vectorization.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(Term Frequency-Inverse Document Frequency) 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 Normalization: Standardize nutritional data (calories, fat, protein, etc.) using Standard Scaler.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68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6A693A-B4E9-FC2E-6EF0-216453067755}"/>
              </a:ext>
            </a:extLst>
          </p:cNvPr>
          <p:cNvSpPr txBox="1"/>
          <p:nvPr/>
        </p:nvSpPr>
        <p:spPr>
          <a:xfrm>
            <a:off x="530941" y="206478"/>
            <a:ext cx="1102196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Selection: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K-Nearest Neighbors (KNN) algorithm to identify similar recipes based on Euclidean distance in the combined feature space.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Web Application: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Use Flask for handling user inputs and processing recommendations.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Build a responsive interface using Bootstrap.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Display Results: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recommended recipes, including name, ingredients, and images on a user-friendly web interface.</a:t>
            </a:r>
          </a:p>
        </p:txBody>
      </p:sp>
    </p:spTree>
    <p:extLst>
      <p:ext uri="{BB962C8B-B14F-4D97-AF65-F5344CB8AC3E}">
        <p14:creationId xmlns:p14="http://schemas.microsoft.com/office/powerpoint/2010/main" val="1752938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-Nearest Neighbor(KNN) Algorithm for Machine Learning - Javat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823" y="536037"/>
            <a:ext cx="6608628" cy="330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9303" y="1005227"/>
            <a:ext cx="45415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K-Nearest Neighbors (KNN):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Type:</a:t>
            </a:r>
            <a:r>
              <a:rPr lang="en-US" dirty="0"/>
              <a:t> Supervised learning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Used for:</a:t>
            </a:r>
            <a:r>
              <a:rPr lang="en-US" dirty="0"/>
              <a:t> Classification and regression.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Basic Idea:</a:t>
            </a:r>
            <a:r>
              <a:rPr lang="en-US" dirty="0"/>
              <a:t> To predict the class or value of a data point based on the 'k' most similar data points in the training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9303" y="3267450"/>
            <a:ext cx="561149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KNN Works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Choose the number of neighbors (k):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Select the number of neighbors (k) to consider for making the prediction.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Calculate distances:</a:t>
            </a:r>
            <a:endParaRPr lang="en-US" dirty="0"/>
          </a:p>
          <a:p>
            <a:pPr lvl="1"/>
            <a:r>
              <a:rPr lang="en-US" dirty="0"/>
              <a:t>Compute the distance between the new data point and all the training data points. Common distance metrics include </a:t>
            </a:r>
            <a:r>
              <a:rPr lang="en-US" u="sng" dirty="0"/>
              <a:t>Euclidean, Manhattan, and </a:t>
            </a:r>
            <a:r>
              <a:rPr lang="en-US" u="sng" dirty="0" err="1"/>
              <a:t>Minkowski</a:t>
            </a:r>
            <a:r>
              <a:rPr lang="en-US" u="sng" dirty="0"/>
              <a:t> distances.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3444" y="3701852"/>
            <a:ext cx="58272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Identify the nearest neighbors: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the 'k' training data points that are closest to the new data point based on the calculated distances.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Make a prediction:</a:t>
            </a:r>
          </a:p>
          <a:p>
            <a:r>
              <a:rPr lang="en-US" dirty="0"/>
              <a:t>Prediction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14144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B43F2F-E93C-7D34-666D-8533CA208516}"/>
              </a:ext>
            </a:extLst>
          </p:cNvPr>
          <p:cNvSpPr txBox="1"/>
          <p:nvPr/>
        </p:nvSpPr>
        <p:spPr>
          <a:xfrm>
            <a:off x="3755922" y="106986"/>
            <a:ext cx="6096000" cy="645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3600" b="1" u="sng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WORKFLOW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128868-C637-AC99-6D44-988298357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497" y="752100"/>
            <a:ext cx="5407742" cy="556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30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C73B2B-19D3-C159-F661-7EE8C37B8D9C}"/>
              </a:ext>
            </a:extLst>
          </p:cNvPr>
          <p:cNvSpPr txBox="1"/>
          <p:nvPr/>
        </p:nvSpPr>
        <p:spPr>
          <a:xfrm>
            <a:off x="3764612" y="167148"/>
            <a:ext cx="5565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EB0F1-6694-26C8-8785-E28CD508C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6749"/>
            <a:ext cx="12192000" cy="566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5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4D9BAE-BABB-940A-7C59-E69FD0B0E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87" y="1018838"/>
            <a:ext cx="10755226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6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EEE549-20D0-AFC7-5209-88038BF749D0}"/>
              </a:ext>
            </a:extLst>
          </p:cNvPr>
          <p:cNvSpPr txBox="1"/>
          <p:nvPr/>
        </p:nvSpPr>
        <p:spPr>
          <a:xfrm>
            <a:off x="3785419" y="373401"/>
            <a:ext cx="6096000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600" b="1" u="sng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CONCLUSION</a:t>
            </a:r>
            <a:endParaRPr lang="en-US" sz="3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042A8-A720-EE75-5264-DE200B04B56C}"/>
              </a:ext>
            </a:extLst>
          </p:cNvPr>
          <p:cNvSpPr txBox="1"/>
          <p:nvPr/>
        </p:nvSpPr>
        <p:spPr>
          <a:xfrm>
            <a:off x="727587" y="1307690"/>
            <a:ext cx="11080955" cy="393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This recipe recommendation system integrates data processing, machine learning, and web development to provide a personalized experience for users seeking recipe recommendations.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By leveraging advanced techniques like TF-IDF vectorization and KNN, the system effectively matches user preferences with suitable recipes, enhancing the overall experience.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Dietary Customization: Extend the system to handle more complex dietary restrictions (e.g., vegan, gluten-free, diabetic-friendly) for more personalized results.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051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383</TotalTime>
  <Words>654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Google Sans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ADEEB INAMDAR</dc:creator>
  <cp:lastModifiedBy>Samarth Mokashi</cp:lastModifiedBy>
  <cp:revision>41</cp:revision>
  <dcterms:created xsi:type="dcterms:W3CDTF">2024-11-26T05:17:08Z</dcterms:created>
  <dcterms:modified xsi:type="dcterms:W3CDTF">2024-12-04T06:46:58Z</dcterms:modified>
</cp:coreProperties>
</file>